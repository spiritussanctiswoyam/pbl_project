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59" r:id="rId6"/>
    <p:sldId id="269" r:id="rId7"/>
    <p:sldId id="260" r:id="rId8"/>
    <p:sldId id="262" r:id="rId9"/>
    <p:sldId id="261" r:id="rId10"/>
    <p:sldId id="272" r:id="rId11"/>
    <p:sldId id="273" r:id="rId12"/>
    <p:sldId id="266" r:id="rId13"/>
    <p:sldId id="274" r:id="rId14"/>
    <p:sldId id="275" r:id="rId15"/>
    <p:sldId id="276" r:id="rId16"/>
    <p:sldId id="267" r:id="rId17"/>
    <p:sldId id="263" r:id="rId18"/>
    <p:sldId id="26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542" y="2756892"/>
            <a:ext cx="9144000" cy="1673826"/>
          </a:xfrm>
        </p:spPr>
        <p:txBody>
          <a:bodyPr>
            <a:normAutofit fontScale="90000"/>
          </a:bodyPr>
          <a:lstStyle/>
          <a:p>
            <a:r>
              <a:rPr lang="en-IN" dirty="0"/>
              <a:t>Post-Quantum Cryptography (PQC)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Swoyam Kumar Behera</a:t>
            </a:r>
          </a:p>
          <a:p>
            <a:r>
              <a:rPr lang="en-IN" dirty="0"/>
              <a:t>2427030137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Dr. </a:t>
            </a:r>
            <a:r>
              <a:rPr lang="en-IN" dirty="0" err="1"/>
              <a:t>Satyabrata</a:t>
            </a:r>
            <a:r>
              <a:rPr lang="en-IN" dirty="0"/>
              <a:t> Roy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191449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Solution !!!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Results !!!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4800"/>
              <a:t>Introduction: Quantum Computing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427514"/>
            <a:ext cx="5400310" cy="3811445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2400" u="sng" dirty="0"/>
              <a:t>Moore’s Law</a:t>
            </a:r>
            <a:r>
              <a:rPr lang="en-US" sz="2400" dirty="0"/>
              <a:t>: In 1975, Gordon Moore predicted that transistors in integrated circuits will double after every eighteen month.</a:t>
            </a:r>
          </a:p>
          <a:p>
            <a:r>
              <a:rPr lang="en-US" sz="2400" dirty="0"/>
              <a:t>Quantum computation and quantum information is the study of the information processing tasks that can be accomplished using quantum mechanical systems.</a:t>
            </a:r>
          </a:p>
          <a:p>
            <a:r>
              <a:rPr lang="en-US" sz="2400" dirty="0"/>
              <a:t>Quantum computation is built upon an analogous concept, the quantum bit, or in short qubit.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2B58D4-3AA7-04B8-79B9-F1A5704FF1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685" y="2465764"/>
            <a:ext cx="2824195" cy="107302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986308-214F-7EA0-144C-CC1C796A1F30}"/>
              </a:ext>
            </a:extLst>
          </p:cNvPr>
          <p:cNvSpPr txBox="1"/>
          <p:nvPr/>
        </p:nvSpPr>
        <p:spPr>
          <a:xfrm>
            <a:off x="6739003" y="3595182"/>
            <a:ext cx="4145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1 Matrices representing bits 0 and 1 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32D956-70E3-7268-7A68-37CC73866B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0456" y="4077457"/>
            <a:ext cx="4099328" cy="12411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312949-232A-310F-4B9B-0C1F28B3BCB4}"/>
              </a:ext>
            </a:extLst>
          </p:cNvPr>
          <p:cNvSpPr txBox="1"/>
          <p:nvPr/>
        </p:nvSpPr>
        <p:spPr>
          <a:xfrm>
            <a:off x="6698705" y="5333948"/>
            <a:ext cx="4304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2 Eq. depicts state of a single qubit in matrix form and Dirac notation.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A4F040-C774-5596-7DB5-0BAE4E445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287ABC3-FCA2-0AFC-2260-A4AB452F3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7B4E7D-DAE9-47A7-ED61-B7A1A0ADF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4800" dirty="0"/>
              <a:t>Introduction: Quantum Cryptography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F16512-D213-9A00-7483-B1AA2FED9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9A8A92-ED31-9B04-36AF-ADE01DA6C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55BC6-7603-0C66-6FF4-16D197B36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940" y="2301670"/>
            <a:ext cx="6235569" cy="4035880"/>
          </a:xfrm>
        </p:spPr>
        <p:txBody>
          <a:bodyPr anchor="ctr">
            <a:noAutofit/>
          </a:bodyPr>
          <a:lstStyle/>
          <a:p>
            <a:r>
              <a:rPr lang="en-US" sz="2000" dirty="0"/>
              <a:t>QC achieves unparalleled levels of security by making use of basic aspects of quantum mechanics as opposed to traditional encryption which is based on mathematical algorithms and keys.</a:t>
            </a:r>
          </a:p>
          <a:p>
            <a:r>
              <a:rPr lang="en-US" sz="2000" dirty="0"/>
              <a:t>Theoretically, QC seems to provide a major advance in the realm of data security. However, no cryptographic technique can guarantee complete security.</a:t>
            </a:r>
          </a:p>
          <a:p>
            <a:r>
              <a:rPr lang="en-IN" sz="2000" u="sng" dirty="0"/>
              <a:t>Post-Quantum Cryptography</a:t>
            </a:r>
            <a:r>
              <a:rPr lang="en-IN" sz="2000" dirty="0"/>
              <a:t>: </a:t>
            </a:r>
            <a:r>
              <a:rPr lang="en-US" sz="2000" dirty="0"/>
              <a:t>Symmetric and asymmetric cryptographic algorithms are vulnerable to quantum algorithms. Grover’s search algorithm gives a square root time boost for the searching of the key AES and 3DES.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1BD100-21B9-2BFC-3BC1-2F360C541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EB9DEC-27C8-F73B-93E1-FD34D279C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605" y="2358391"/>
            <a:ext cx="4630772" cy="35002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C6F9F8B-3921-7508-9948-57C8A14186D5}"/>
              </a:ext>
            </a:extLst>
          </p:cNvPr>
          <p:cNvSpPr txBox="1"/>
          <p:nvPr/>
        </p:nvSpPr>
        <p:spPr>
          <a:xfrm>
            <a:off x="6926562" y="5858675"/>
            <a:ext cx="3979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Applications of quantum cryptography</a:t>
            </a:r>
          </a:p>
        </p:txBody>
      </p:sp>
    </p:spTree>
    <p:extLst>
      <p:ext uri="{BB962C8B-B14F-4D97-AF65-F5344CB8AC3E}">
        <p14:creationId xmlns:p14="http://schemas.microsoft.com/office/powerpoint/2010/main" val="1334693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86054FB-E58F-CF9F-B086-43EB035380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9730515"/>
              </p:ext>
            </p:extLst>
          </p:nvPr>
        </p:nvGraphicFramePr>
        <p:xfrm>
          <a:off x="838200" y="1825625"/>
          <a:ext cx="10515600" cy="430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51570368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48622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Research Paper: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Points: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918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OLIVA DEL MORAL et al.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Modern cryptography distinguishes two types of cryptosystems depending on how a message is encrypted: 1) symmetric and 2) asymmetric key schemes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426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Durr-E-Shahwar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Symmetric and asymmetric cryptographic algorithms are vulnerable to quantum algorithms. Grover’s search algorithm gives a square root time boost for the searching of the key AES and 3DES.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495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 OLIVA DEL MORAL et al.</a:t>
                      </a:r>
                      <a:endParaRPr lang="en-IN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PQC refers to classical cryptographic methods based on hard problems whose solution cannot be found in polynomial time by neither classical nor quantum computers.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0522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136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A500F-E0F7-BE67-83F0-364750776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C8F6F-4A4E-D264-1F1A-073CF1B07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3CA7D4C-5083-7F2C-C285-37A6C82429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9807962"/>
              </p:ext>
            </p:extLst>
          </p:nvPr>
        </p:nvGraphicFramePr>
        <p:xfrm>
          <a:off x="838200" y="1825625"/>
          <a:ext cx="10515600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98613706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63068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Research Paper: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Points: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7824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V. Kumar, John Bosco Balaguru </a:t>
                      </a:r>
                      <a:r>
                        <a:rPr lang="en-IN" b="1" dirty="0" err="1"/>
                        <a:t>Rayappan</a:t>
                      </a:r>
                      <a:r>
                        <a:rPr lang="en-IN" b="1" dirty="0"/>
                        <a:t>, R. </a:t>
                      </a:r>
                      <a:r>
                        <a:rPr lang="en-IN" b="1" dirty="0" err="1"/>
                        <a:t>Amirtharajan</a:t>
                      </a:r>
                      <a:r>
                        <a:rPr lang="en-IN" b="1" dirty="0"/>
                        <a:t> et al.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 cyber security, cryptography and scientific simulations, random numbers play a significant role. A crucial mandate for information security is a high-quality, high-speed random number.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850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Even when the core algorithms are secure, in the interim, randomness generation with poor implementations would uncover severe security gaps for cryptosystem.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655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BHAT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Utilizing the method of quantum key distribution, a random secret key is established for cryptography. Any attempt of manipulating will alter the state and can be detected making the communication secure without complex procedures and algorithms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99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9382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Hypothesis: </a:t>
            </a:r>
            <a:r>
              <a:rPr lang="en-US" i="1" dirty="0"/>
              <a:t>While quantum cryptography provides theoretically superior security compared to classical cryptography, practical implementation challenges currently limit its widespread adoption.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To review and compare existing research on quantum random number generation techniques highlighting their principles and performance.</a:t>
            </a:r>
          </a:p>
          <a:p>
            <a:endParaRPr lang="en-US" sz="2400" dirty="0"/>
          </a:p>
          <a:p>
            <a:r>
              <a:rPr lang="en-US" sz="2400" dirty="0"/>
              <a:t>To analyze the strengths, limitations, and security aspects of current methods as reported in recent literature, especially in terms of randomness quality and practical deployment.</a:t>
            </a:r>
          </a:p>
          <a:p>
            <a:endParaRPr lang="en-US" sz="2400" dirty="0"/>
          </a:p>
          <a:p>
            <a:r>
              <a:rPr lang="en-US" sz="2400" dirty="0"/>
              <a:t>To identify research gaps and future directions based on trends and challenges.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9308690" cy="39427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Procedure: Quantum True Random Number Generation </a:t>
            </a:r>
          </a:p>
          <a:p>
            <a:pPr marL="0" indent="0">
              <a:buNone/>
            </a:pPr>
            <a:r>
              <a:rPr lang="en-US" sz="2400" dirty="0"/>
              <a:t>Input: No of qubits, shots; Run the kernel; </a:t>
            </a:r>
            <a:br>
              <a:rPr lang="en-US" sz="2400" dirty="0"/>
            </a:br>
            <a:r>
              <a:rPr lang="en-US" sz="2400" dirty="0"/>
              <a:t>Output: random numbers; </a:t>
            </a:r>
          </a:p>
          <a:p>
            <a:r>
              <a:rPr lang="en-US" sz="2400" dirty="0"/>
              <a:t>Step 1. Log in to the IBM quantum computer </a:t>
            </a:r>
          </a:p>
          <a:p>
            <a:r>
              <a:rPr lang="en-US" sz="2400" dirty="0"/>
              <a:t>Step 2. Enter into the quantum launch lab </a:t>
            </a:r>
          </a:p>
          <a:p>
            <a:r>
              <a:rPr lang="en-US" sz="2400" dirty="0"/>
              <a:t>Step 3. Launch server </a:t>
            </a:r>
          </a:p>
          <a:p>
            <a:r>
              <a:rPr lang="en-US" sz="2400" dirty="0"/>
              <a:t>Step 4. </a:t>
            </a:r>
            <a:r>
              <a:rPr lang="en-US" sz="2400" dirty="0" err="1"/>
              <a:t>Qiskit</a:t>
            </a:r>
            <a:r>
              <a:rPr lang="en-US" sz="2400" dirty="0"/>
              <a:t> 0.29.0 </a:t>
            </a:r>
          </a:p>
          <a:p>
            <a:r>
              <a:rPr lang="en-US" sz="2400" dirty="0"/>
              <a:t>Step 5. Import standard </a:t>
            </a:r>
            <a:r>
              <a:rPr lang="en-US" sz="2400" dirty="0" err="1"/>
              <a:t>Qiskit</a:t>
            </a:r>
            <a:r>
              <a:rPr lang="en-US" sz="2400" dirty="0"/>
              <a:t> libraries </a:t>
            </a:r>
          </a:p>
          <a:p>
            <a:r>
              <a:rPr lang="en-US" sz="2400" dirty="0"/>
              <a:t>Step 6. Set the number of quantum registers and classical registers </a:t>
            </a:r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80ED1-AB1F-ECC6-A401-A145E792A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9C943-4B10-BF27-02D5-A456662EB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64381-7681-C3C4-360D-5FB0CDE73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Step 7. Apply Hadamard gate to all qubits </a:t>
            </a:r>
          </a:p>
          <a:p>
            <a:r>
              <a:rPr lang="en-US" sz="2400" dirty="0"/>
              <a:t>Step 8. Apply measurement to all qubits </a:t>
            </a:r>
          </a:p>
          <a:p>
            <a:r>
              <a:rPr lang="en-US" sz="2400" dirty="0"/>
              <a:t>Step 9. Run cell by cell </a:t>
            </a:r>
          </a:p>
          <a:p>
            <a:r>
              <a:rPr lang="en-US" sz="2400" dirty="0"/>
              <a:t>Step 10. Enter the number of qubits </a:t>
            </a:r>
          </a:p>
          <a:p>
            <a:r>
              <a:rPr lang="en-US" sz="2400" dirty="0"/>
              <a:t>Step 11. Specified the number of qubits as 24 </a:t>
            </a:r>
          </a:p>
          <a:p>
            <a:r>
              <a:rPr lang="en-US" sz="2400" dirty="0"/>
              <a:t>Step 12. Enter the number of shots </a:t>
            </a:r>
          </a:p>
          <a:p>
            <a:r>
              <a:rPr lang="en-US" sz="2400" dirty="0"/>
              <a:t>Step 13. Specified the number of shots as 65,536 Step 12. Number of random numbers = No of qubits * No of shots End procedure</a:t>
            </a:r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90881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08CA2-A28A-A5B1-6B30-7A84B4EF8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A17E8-D685-49FD-AF16-295379DAB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CF011D-06AA-2A61-532F-97EE019C43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39"/>
          <a:stretch>
            <a:fillRect/>
          </a:stretch>
        </p:blipFill>
        <p:spPr>
          <a:xfrm>
            <a:off x="685438" y="1755348"/>
            <a:ext cx="4966624" cy="3702498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5D5D4343-025D-C56B-53B7-882844A3D82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759607" y="1434016"/>
            <a:ext cx="574695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Initially, all 5 qubits are prepared in the ground state: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         |00000⟩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Hadamard (H) gate is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individually to each of the 5 qubits.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Hadamard gate transforms each qubit as: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696DBBC-35A1-151D-A788-5CF8E9F2D074}"/>
              </a:ext>
            </a:extLst>
          </p:cNvPr>
          <p:cNvSpPr/>
          <p:nvPr/>
        </p:nvSpPr>
        <p:spPr>
          <a:xfrm>
            <a:off x="7515533" y="3013974"/>
            <a:ext cx="2405215" cy="106188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080BDD-4683-A2B6-DEF2-9C83F85B39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381" y="3101468"/>
            <a:ext cx="2205037" cy="8717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B7B20F3-912C-E7BD-68E0-22A2A30B9907}"/>
              </a:ext>
            </a:extLst>
          </p:cNvPr>
          <p:cNvSpPr/>
          <p:nvPr/>
        </p:nvSpPr>
        <p:spPr>
          <a:xfrm>
            <a:off x="7880916" y="5496095"/>
            <a:ext cx="1504336" cy="88704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302A6D-35F4-0544-0B0B-63C6A9C09F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459" y="5496095"/>
            <a:ext cx="1255250" cy="8870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A043A4-8340-F13C-9206-0F0CCA497992}"/>
              </a:ext>
            </a:extLst>
          </p:cNvPr>
          <p:cNvSpPr txBox="1"/>
          <p:nvPr/>
        </p:nvSpPr>
        <p:spPr>
          <a:xfrm>
            <a:off x="1202602" y="5457846"/>
            <a:ext cx="3932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Fig. 3 Single Hadamard Gate(Qubit=5)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3653B-E27C-1F64-64D5-151456F2D552}"/>
              </a:ext>
            </a:extLst>
          </p:cNvPr>
          <p:cNvSpPr txBox="1"/>
          <p:nvPr/>
        </p:nvSpPr>
        <p:spPr>
          <a:xfrm>
            <a:off x="5759607" y="4075856"/>
            <a:ext cx="57469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After applying H to all 5 qubits, each qubit enters a superposition state.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 combined 5-qubit state becomes: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An equal superposition of all possible 32 states.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Mathematically, the final state is: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0089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D4913-00D1-0B0F-38B7-C226FBBC3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44613" cy="43785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The National Institute of Standards and Technology(NIST) statistical test comprises of fifteen tests methods:</a:t>
            </a:r>
          </a:p>
          <a:p>
            <a:r>
              <a:rPr lang="en-US" sz="2000" dirty="0"/>
              <a:t>T1 –Frequency Test (Monobit) </a:t>
            </a:r>
          </a:p>
          <a:p>
            <a:r>
              <a:rPr lang="en-US" sz="2000" dirty="0"/>
              <a:t>T2 – Frequency Test within a Block </a:t>
            </a:r>
          </a:p>
          <a:p>
            <a:r>
              <a:rPr lang="en-US" sz="2000" dirty="0"/>
              <a:t>T3 –Run Test </a:t>
            </a:r>
          </a:p>
          <a:p>
            <a:r>
              <a:rPr lang="en-US" sz="2000" dirty="0"/>
              <a:t>T4 – Longest Run of Ones in a Block </a:t>
            </a:r>
          </a:p>
          <a:p>
            <a:r>
              <a:rPr lang="en-US" sz="2000" dirty="0"/>
              <a:t>T5 –Binary Matrix Rank Test </a:t>
            </a:r>
          </a:p>
          <a:p>
            <a:r>
              <a:rPr lang="en-US" sz="2000" dirty="0"/>
              <a:t>T6 –Discrete Fourier Transform (spectral) Test </a:t>
            </a:r>
          </a:p>
          <a:p>
            <a:r>
              <a:rPr lang="en-US" sz="2000" dirty="0"/>
              <a:t>T7 –Non-overlapping Template Matching Test </a:t>
            </a:r>
          </a:p>
          <a:p>
            <a:r>
              <a:rPr lang="en-US" sz="2000" dirty="0"/>
              <a:t>T8 –Overlapping Template Matching Test </a:t>
            </a:r>
          </a:p>
          <a:p>
            <a:r>
              <a:rPr lang="en-US" sz="2000" dirty="0"/>
              <a:t>T9 - Maurer’s Universal Statistical Test 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C7A047-A639-C13A-3878-279D40C15583}"/>
              </a:ext>
            </a:extLst>
          </p:cNvPr>
          <p:cNvSpPr txBox="1"/>
          <p:nvPr/>
        </p:nvSpPr>
        <p:spPr>
          <a:xfrm>
            <a:off x="6282813" y="2613392"/>
            <a:ext cx="48473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T10 –Linear Complexity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T11-a –Serial Test 1 T11-b –Serial Test 2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T12 –Approximate Entropy Test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T13-a –Cumulative sums (forward) Test T13-b -Cumulative Sums (reverse)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T14- Random Excursion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T15- </a:t>
            </a:r>
            <a:r>
              <a:rPr lang="fr-FR" sz="2000" dirty="0" err="1"/>
              <a:t>Random</a:t>
            </a:r>
            <a:r>
              <a:rPr lang="fr-FR" sz="2000" dirty="0"/>
              <a:t> Excursions Variance Test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7023F-7510-D02B-1F7B-D56B1B03A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69F60-88B5-3ABF-BB0E-C3309D8C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2EE16DF-E09A-A7F6-DACD-19E4A89B4E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612" y="1317524"/>
            <a:ext cx="8347587" cy="46506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617541-20EC-2AE6-316C-EEDBF6329BC9}"/>
              </a:ext>
            </a:extLst>
          </p:cNvPr>
          <p:cNvSpPr txBox="1"/>
          <p:nvPr/>
        </p:nvSpPr>
        <p:spPr>
          <a:xfrm>
            <a:off x="3878886" y="5968182"/>
            <a:ext cx="4954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4 NIST 800–22 Statistical Test Result Test 1–7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9539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C8D65-D7F2-01D9-8D0E-82D8A22E5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9A703-BED8-8E12-2F8A-868914AC0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DC87CC7-F4DB-3892-82A9-352EB9D64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356" y="1317523"/>
            <a:ext cx="8349844" cy="46801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6730B8-62C6-66BF-24F9-B44E047CCF67}"/>
              </a:ext>
            </a:extLst>
          </p:cNvPr>
          <p:cNvSpPr txBox="1"/>
          <p:nvPr/>
        </p:nvSpPr>
        <p:spPr>
          <a:xfrm>
            <a:off x="3601672" y="5997677"/>
            <a:ext cx="5173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Fig. 5 </a:t>
            </a:r>
            <a:r>
              <a:rPr lang="en-US" dirty="0"/>
              <a:t>NIST 800–22 Statistical Test Result Test 8–13.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88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2EE21-EF3F-7C9F-8AA4-585E33443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F8467-C5C7-675B-DB8E-760A111CF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A45AC6-E4E6-91E7-636B-048ED2010412}"/>
              </a:ext>
            </a:extLst>
          </p:cNvPr>
          <p:cNvSpPr txBox="1"/>
          <p:nvPr/>
        </p:nvSpPr>
        <p:spPr>
          <a:xfrm>
            <a:off x="2234494" y="5167312"/>
            <a:ext cx="7723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Fig. 6 Performance comparison of proposed QTRNG with available literature.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9D4FFDF-D537-56A5-F1D8-93BD8D3137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46" y="1720774"/>
            <a:ext cx="11696062" cy="341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671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84D1-BF8A-599C-4DEE-5FD15C78E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99825"/>
            <a:ext cx="10515600" cy="1458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Research Paper (Drafted)</a:t>
            </a:r>
          </a:p>
          <a:p>
            <a:r>
              <a:rPr lang="en-US" sz="2400" dirty="0"/>
              <a:t>Prepared and drafted a research paper based on the literature survey, summarizing key findings, comparisons, and critical analysis.</a:t>
            </a:r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548" y="197976"/>
            <a:ext cx="2819400" cy="1325563"/>
          </a:xfrm>
        </p:spPr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448" y="1206193"/>
            <a:ext cx="11629103" cy="4899640"/>
          </a:xfrm>
        </p:spPr>
        <p:txBody>
          <a:bodyPr>
            <a:noAutofit/>
          </a:bodyPr>
          <a:lstStyle/>
          <a:p>
            <a:pPr marL="571500" indent="-571500">
              <a:buFont typeface="+mj-lt"/>
              <a:buAutoNum type="romanLcPeriod"/>
            </a:pPr>
            <a:r>
              <a:rPr lang="en-IN" sz="1600" dirty="0"/>
              <a:t>Imran, Muhammad, Ahmed B. Altamimi, Wilayat Khan, Shariq Hussain, and Mohammad Alsaffar. "Quantum cryptography for future networks security: A systematic review." </a:t>
            </a:r>
            <a:r>
              <a:rPr lang="en-IN" sz="1600" i="1" dirty="0"/>
              <a:t>IEEE Access</a:t>
            </a:r>
            <a:r>
              <a:rPr lang="en-IN" sz="1600" dirty="0"/>
              <a:t> 12 (2024): 180048-180078.</a:t>
            </a:r>
          </a:p>
          <a:p>
            <a:pPr marL="571500" indent="-571500">
              <a:buFont typeface="+mj-lt"/>
              <a:buAutoNum type="romanLcPeriod"/>
            </a:pPr>
            <a:r>
              <a:rPr lang="en-IN" sz="1600" dirty="0"/>
              <a:t>Bhat, Hilal Ahmad, Farooq Ahmad </a:t>
            </a:r>
            <a:r>
              <a:rPr lang="en-IN" sz="1600" dirty="0" err="1"/>
              <a:t>Khanday</a:t>
            </a:r>
            <a:r>
              <a:rPr lang="en-IN" sz="1600" dirty="0"/>
              <a:t>, Brajesh Kumar Kaushik, Faisal Bashir, and Khurshed Ahmad Shah. "Quantum computing: fundamentals, implementations and applications." </a:t>
            </a:r>
            <a:r>
              <a:rPr lang="en-IN" sz="1600" i="1" dirty="0"/>
              <a:t>IEEE Open Journal of Nanotechnology</a:t>
            </a:r>
            <a:r>
              <a:rPr lang="en-IN" sz="1600" dirty="0"/>
              <a:t> 3 (2022): 61-77.</a:t>
            </a:r>
          </a:p>
          <a:p>
            <a:pPr marL="571500" indent="-571500">
              <a:buFont typeface="+mj-lt"/>
              <a:buAutoNum type="romanLcPeriod"/>
            </a:pPr>
            <a:r>
              <a:rPr lang="en-IN" sz="1600" dirty="0"/>
              <a:t>del Moral, Javier Oliva, Antonio </a:t>
            </a:r>
            <a:r>
              <a:rPr lang="en-IN" sz="1600" dirty="0" err="1"/>
              <a:t>deMarti</a:t>
            </a:r>
            <a:r>
              <a:rPr lang="en-IN" sz="1600" dirty="0"/>
              <a:t> </a:t>
            </a:r>
            <a:r>
              <a:rPr lang="en-IN" sz="1600" dirty="0" err="1"/>
              <a:t>iOlius</a:t>
            </a:r>
            <a:r>
              <a:rPr lang="en-IN" sz="1600" dirty="0"/>
              <a:t>, Gerard Vidal, Pedro M. Crespo, and Josu Etxezarreta Martinez. "Cybersecurity in critical infrastructures: A post-quantum cryptography perspective." </a:t>
            </a:r>
            <a:r>
              <a:rPr lang="en-IN" sz="1600" i="1" dirty="0"/>
              <a:t>IEEE Internet of Things Journal</a:t>
            </a:r>
            <a:r>
              <a:rPr lang="en-IN" sz="1600" dirty="0"/>
              <a:t> 11, no. 18 (2024): 30217-30244.</a:t>
            </a:r>
          </a:p>
          <a:p>
            <a:pPr marL="571500" indent="-571500">
              <a:buFont typeface="+mj-lt"/>
              <a:buAutoNum type="romanLcPeriod"/>
            </a:pPr>
            <a:r>
              <a:rPr lang="en-IN" sz="1600" dirty="0"/>
              <a:t>Kumar, Vaishnavi, John Bosco Balaguru </a:t>
            </a:r>
            <a:r>
              <a:rPr lang="en-IN" sz="1600" dirty="0" err="1"/>
              <a:t>Rayappan</a:t>
            </a:r>
            <a:r>
              <a:rPr lang="en-IN" sz="1600" dirty="0"/>
              <a:t>, Rengarajan </a:t>
            </a:r>
            <a:r>
              <a:rPr lang="en-IN" sz="1600" dirty="0" err="1"/>
              <a:t>Amirtharajan</a:t>
            </a:r>
            <a:r>
              <a:rPr lang="en-IN" sz="1600" dirty="0"/>
              <a:t>, and Padmapriya Praveenkumar. "Quantum true random number generation on IBM’s cloud platform." </a:t>
            </a:r>
            <a:r>
              <a:rPr lang="en-IN" sz="1600" i="1" dirty="0"/>
              <a:t>Journal of King Saud University-Computer and Information Sciences</a:t>
            </a:r>
            <a:r>
              <a:rPr lang="en-IN" sz="1600" dirty="0"/>
              <a:t> 34, no. 8 (2022): 6453-6465.</a:t>
            </a:r>
          </a:p>
          <a:p>
            <a:pPr marL="571500" indent="-571500">
              <a:buFont typeface="+mj-lt"/>
              <a:buAutoNum type="romanLcPeriod"/>
            </a:pPr>
            <a:r>
              <a:rPr lang="en-IN" sz="1600" dirty="0" err="1"/>
              <a:t>Bisadi</a:t>
            </a:r>
            <a:r>
              <a:rPr lang="en-IN" sz="1600" dirty="0"/>
              <a:t>, Zahra, Fabio Acerbi, Giorgio Fontana, Nicola Zorzi, Claudio Piemonte, Georg Pucker, and Lorenzo Pavesi. "Compact quantum random number generator with silicon nanocrystals light emitting device coupled to a silicon photomultiplier." Frontiers in Physics 6 (2018): 9.</a:t>
            </a:r>
          </a:p>
          <a:p>
            <a:pPr marL="571500" indent="-571500">
              <a:buFont typeface="+mj-lt"/>
              <a:buAutoNum type="romanLcPeriod"/>
            </a:pPr>
            <a:r>
              <a:rPr lang="en-IN" sz="1600" dirty="0"/>
              <a:t>Ferreira, Maurício J., Nuno A. Silva, Armando N. Pinto, and Nelson J. Muga. "Characterization of a quantum random number generator based on vacuum fluctuations." Applied Sciences 11, no. 16 (2021): 7413.</a:t>
            </a:r>
          </a:p>
          <a:p>
            <a:pPr marL="571500" indent="-571500">
              <a:buFont typeface="+mj-lt"/>
              <a:buAutoNum type="romanLcPeriod"/>
            </a:pPr>
            <a:r>
              <a:rPr lang="en-IN" sz="1600" dirty="0"/>
              <a:t>Huang, </a:t>
            </a:r>
            <a:r>
              <a:rPr lang="en-IN" sz="1600" dirty="0" err="1"/>
              <a:t>Leilei</a:t>
            </a:r>
            <a:r>
              <a:rPr lang="en-IN" sz="1600" dirty="0"/>
              <a:t>, Hongyi Zhou, Kai Feng, and Chongjin Xie. "Quantum random number cloud platform." </a:t>
            </a:r>
            <a:r>
              <a:rPr lang="en-IN" sz="1600" dirty="0" err="1"/>
              <a:t>npj</a:t>
            </a:r>
            <a:r>
              <a:rPr lang="en-IN" sz="1600" dirty="0"/>
              <a:t> Quantum Information 7, no. 1 (2021): 107.</a:t>
            </a:r>
          </a:p>
          <a:p>
            <a:pPr marL="571500" indent="-571500">
              <a:buFont typeface="+mj-lt"/>
              <a:buAutoNum type="romanLcPeriod"/>
            </a:pPr>
            <a:r>
              <a:rPr lang="en-IN" sz="1600" dirty="0"/>
              <a:t>Smith, Peter Raymond, Davide G. Marangon, Marco </a:t>
            </a:r>
            <a:r>
              <a:rPr lang="en-IN" sz="1600" dirty="0" err="1"/>
              <a:t>Lucamarini</a:t>
            </a:r>
            <a:r>
              <a:rPr lang="en-IN" sz="1600" dirty="0"/>
              <a:t>, Z. L. Yuan, and A. J. Shields. "Simple source device-independent continuous-variable quantum random number generator." Physical Review A 99, no. 6 (2019): 062326.</a:t>
            </a:r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2769</TotalTime>
  <Words>1326</Words>
  <Application>Microsoft Office PowerPoint</Application>
  <PresentationFormat>Widescreen</PresentationFormat>
  <Paragraphs>112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Wingdings</vt:lpstr>
      <vt:lpstr>Office Theme</vt:lpstr>
      <vt:lpstr>Post-Quantum Cryptography (PQC)</vt:lpstr>
      <vt:lpstr>Outline</vt:lpstr>
      <vt:lpstr>Introduction: Quantum Computing</vt:lpstr>
      <vt:lpstr>Introduction: Quantum Cryptography </vt:lpstr>
      <vt:lpstr>Literature Review</vt:lpstr>
      <vt:lpstr>Literature Review</vt:lpstr>
      <vt:lpstr>Problem Statement</vt:lpstr>
      <vt:lpstr>Objectives</vt:lpstr>
      <vt:lpstr>Methodology</vt:lpstr>
      <vt:lpstr>Methodology </vt:lpstr>
      <vt:lpstr>Methodology </vt:lpstr>
      <vt:lpstr>Result </vt:lpstr>
      <vt:lpstr>Result </vt:lpstr>
      <vt:lpstr>Result </vt:lpstr>
      <vt:lpstr>Result </vt:lpstr>
      <vt:lpstr>Outcome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Swoyam Behera</cp:lastModifiedBy>
  <cp:revision>16</cp:revision>
  <dcterms:created xsi:type="dcterms:W3CDTF">2025-09-29T05:03:41Z</dcterms:created>
  <dcterms:modified xsi:type="dcterms:W3CDTF">2026-02-15T17:00:06Z</dcterms:modified>
</cp:coreProperties>
</file>